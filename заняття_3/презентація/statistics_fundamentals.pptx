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55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6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906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2899" y="0"/>
            <a:ext cx="9144000" cy="514350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Курс: Створення AI додатків з використанням Python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Основи статистики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аналізу даних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4572000" cy="36576"/>
          </a:xfrm>
          <a:prstGeom prst="rect">
            <a:avLst/>
          </a:prstGeom>
          <a:solidFill>
            <a:srgbClr val="4F9CF9">
              <a:alpha val="60000"/>
            </a:srgbClr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4F9CF9">
              <a:alpha val="25000"/>
            </a:srgbClr>
          </a:solidFill>
          <a:ln w="1905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5720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11680" y="292608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00D4FF">
              <a:alpha val="25000"/>
            </a:srgbClr>
          </a:solidFill>
          <a:ln w="1905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201168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566160" y="292608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A855F7">
              <a:alpha val="25000"/>
            </a:srgbClr>
          </a:solidFill>
          <a:ln w="1905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356616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120640" y="292608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00FF9F">
              <a:alpha val="25000"/>
            </a:srgbClr>
          </a:solidFill>
          <a:ln w="1905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12064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вже вивчили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260604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11480" y="1051560"/>
            <a:ext cx="2606040" cy="54864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411480" y="117043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1480" y="1664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Минулого разу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05740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Відкривали таблицю в pandas, робили первинний технічний огляд: head(), info(), shape, columns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00400" y="1051560"/>
            <a:ext cx="260604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3200400" y="1051560"/>
            <a:ext cx="260604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3200400" y="117043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200400" y="1664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37560" y="205740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Вчимося читати числовий зміст таблиці та описову статистику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89320" y="1051560"/>
            <a:ext cx="260604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5989320" y="1051560"/>
            <a:ext cx="260604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989320" y="117043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89320" y="1664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Головне питання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26480" y="205740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кількома </a:t>
            </a:r>
            <a:r>
              <a:rPr lang="uk-UA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способами</a:t>
            </a: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описати колонку і не зробити хибний висновок?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Навіщо статистика в Data Science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62179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88720" y="108813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Описати дані без перегляду кожного рядка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36245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рядків — не переглянеш вручну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1051560"/>
            <a:ext cx="54864" cy="621792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411480" y="1764792"/>
            <a:ext cx="8321040" cy="62179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48640" y="1764792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⚠️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88720" y="18013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проблеми до побудови моделі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20756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Викиди, пропуски, неправильні типи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1764792"/>
            <a:ext cx="54864" cy="6217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411480" y="2478024"/>
            <a:ext cx="8321040" cy="62179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48640" y="2478024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88720" y="25146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припущення алгоритмів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7889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регресія вимагає нормальності залишків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2478024"/>
            <a:ext cx="54864" cy="62179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411480" y="3191256"/>
            <a:ext cx="8321040" cy="62179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48640" y="3191256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188720" y="32278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Зрозуміти зв'язки між змінними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35021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Кореляція допомагає вибрати ознаки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3191256"/>
            <a:ext cx="54864" cy="62179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411480" y="3904488"/>
            <a:ext cx="8321040" cy="62179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548640" y="3904488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188720" y="394106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Комунікувати знахідки бізнесу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88720" y="421538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«Середня зарплата у вибірці — 55 тис.»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11480" y="3904488"/>
            <a:ext cx="54864" cy="62179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Випадкова величина як колонка DataFrame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числова колонка — це вибірка з деякого розподілу. Ми аналізуємо цю вибірку, щоб зробити висновки.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115568"/>
            <a:ext cx="4114800" cy="347472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4864" cy="347472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76072" y="1207008"/>
            <a:ext cx="3858768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pandas as pd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numpy as np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pd.read_csv('titanic.csv')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Колонка age — це вибірка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ages = df['age']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describe() — перший статистичний огляд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print(ages.describe())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count, mean, std, min, 25%, 50%, 75%, max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63440" y="1115568"/>
            <a:ext cx="406908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800600" y="12070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Виведення describe():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69080" cy="310896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800600" y="1600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675120" y="16002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714.000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63440" y="1901952"/>
            <a:ext cx="4069080" cy="310896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4800600" y="192938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675120" y="192938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29.699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663440" y="2231136"/>
            <a:ext cx="4069080" cy="310896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4800600" y="22585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675120" y="2258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14.526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63440" y="2560320"/>
            <a:ext cx="4069080" cy="310896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4800600" y="25877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75120" y="2587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0.420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663440" y="2889504"/>
            <a:ext cx="4069080" cy="310896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4800600" y="29169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25%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75120" y="29169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20.125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63440" y="3218688"/>
            <a:ext cx="4069080" cy="310896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4800600" y="32461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50%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675120" y="32461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28.000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663440" y="3547872"/>
            <a:ext cx="4069080" cy="310896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4800600" y="3575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75%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675120" y="357530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38.000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663440" y="3877056"/>
            <a:ext cx="4069080" cy="310896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4800600" y="39044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675120" y="39044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80.000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Середнє: ідея, код, обмеження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4023360" cy="91440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94360" y="11155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Формула: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371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C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x̄ = (x₁ + x₂ + ... + xₙ) / 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1480" y="2057400"/>
            <a:ext cx="4023360" cy="28346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11480" y="2057400"/>
            <a:ext cx="54864" cy="283464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76072" y="2148840"/>
            <a:ext cx="37673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Середнє значення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mean_age = df['age'].mean()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print(f'Середній вік: {mean_age:.1f}')  # 29.7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Аналог через numpy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np.mean(df['age'].dropna())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Для групи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df.groupby('sex')['age'].mean()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17720" y="1051560"/>
            <a:ext cx="4114800" cy="38404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754880" y="11430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Обмеження середнього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554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Чутливе до викидів (outliers)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18288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великий 500 000 «тягне» середнє вгору і воно вже не відображає типовий рівень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754880" y="2651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підходить для категорій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54880" y="29260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Середня 'стать' — безглузда. Середня 'оцінка' — сумнівна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754880" y="3749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Складні розподіли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54880" y="402336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бімодальному розподілі середнє може бути там, де взагалі немає спостережень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617720" y="45720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Середнє завжди треба перевіряти медіаною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Медіана: типове значення при викидах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7315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Медіана — значення, яке ділить вибірку навпіл після сортування. 50% спостережень — нижче, 50% — вище.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115568"/>
            <a:ext cx="1078992" cy="5943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1078992" cy="4572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411480" y="1188720"/>
            <a:ext cx="1078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600200" y="1115568"/>
            <a:ext cx="1078992" cy="5943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1600200" y="1115568"/>
            <a:ext cx="1078992" cy="4572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1600200" y="1188720"/>
            <a:ext cx="1078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788920" y="1115568"/>
            <a:ext cx="1078992" cy="5943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2788920" y="1115568"/>
            <a:ext cx="1078992" cy="4572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88920" y="1188720"/>
            <a:ext cx="1078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977640" y="1115568"/>
            <a:ext cx="1078992" cy="594360"/>
          </a:xfrm>
          <a:prstGeom prst="rect">
            <a:avLst/>
          </a:prstGeom>
          <a:solidFill>
            <a:srgbClr val="1A2E1A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3977640" y="1115568"/>
            <a:ext cx="1078992" cy="45720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3977640" y="1188720"/>
            <a:ext cx="1078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166360" y="1115568"/>
            <a:ext cx="1078992" cy="5943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5166360" y="1115568"/>
            <a:ext cx="1078992" cy="4572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166360" y="1188720"/>
            <a:ext cx="1078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55080" y="1115568"/>
            <a:ext cx="1078992" cy="5943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6355080" y="1115568"/>
            <a:ext cx="1078992" cy="4572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6355080" y="1188720"/>
            <a:ext cx="1078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543800" y="1115568"/>
            <a:ext cx="1078992" cy="5943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7543800" y="1115568"/>
            <a:ext cx="1078992" cy="4572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7543800" y="1188720"/>
            <a:ext cx="1078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500,000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977640" y="1755648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медіана = 40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11480" y="2148840"/>
            <a:ext cx="4114800" cy="274320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411480" y="2148840"/>
            <a:ext cx="54864" cy="274320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576072" y="2240280"/>
            <a:ext cx="3858768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median_age = df['age'].median()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print(f'Медіана: {median_age}')  # 28.0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Порівняння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mean_v   = df['age'].mean()    # 29.7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median_v = df['age'].median()  # 28.0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 = abs(mean_v - median_v)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print(f'Різниця: {diff:.1f}')  # 1.7 — ок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663440" y="2148840"/>
            <a:ext cx="4069080" cy="2743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4800600" y="22677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медіана краща?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800600" y="26517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Є викиди (нерухомість, зарплати, транзакції)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800600" y="305409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Сильно скошений розподіл (доходи населення)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800600" y="34564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Є пропуски — медіана стійкіша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800600" y="38587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Ранговий аналіз, рейтинги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800600" y="42611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Нормальний розподіл без викидів — середнє ефективніше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проти медіани: що відбувається при викиді</a:t>
            </a:r>
            <a:endParaRPr lang="en-US" sz="2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8321040" cy="3474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46634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запис 500 000 грн. — і середнє зростає з 44k до 90k. Медіана </a:t>
            </a:r>
            <a:r>
              <a:rPr lang="en-US" sz="1250" i="1" dirty="0" err="1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змінилась</a:t>
            </a:r>
            <a:r>
              <a:rPr lang="en-US" sz="12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мінімально</a:t>
            </a:r>
            <a:r>
              <a:rPr lang="en-US" sz="12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Мода: найчастіше значення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4389120" cy="393192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11480" y="1051560"/>
            <a:ext cx="54864" cy="393192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76072" y="1143000"/>
            <a:ext cx="413308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Мода числової колонки</a:t>
            </a:r>
            <a:endParaRPr lang="en-US" sz="1250" dirty="0"/>
          </a:p>
          <a:p>
            <a:pPr marL="0" indent="0">
              <a:buNone/>
            </a:pPr>
            <a:r>
              <a:rPr lang="en-US" sz="1250" dirty="0" err="1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mode_pclass</a:t>
            </a: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df['pclass'].mode()[0]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print(f'Найчастіший клас: {</a:t>
            </a:r>
            <a:r>
              <a:rPr lang="en-US" sz="1250" dirty="0" err="1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mode_pclass</a:t>
            </a: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}')  # 3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Мода категоріальної колонки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mode_embark = df['embarked'].mode()[0]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print(f'Порт: {mode_embark}')  # S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Підрахунок частот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df['pclass'].value_counts()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   491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   216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   184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83480" y="1051560"/>
            <a:ext cx="3749040" cy="39319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120640" y="117043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використовувати моду?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83480" y="1600200"/>
            <a:ext cx="54864" cy="8686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138928" y="163677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Категоріальні дані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38928" y="192938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Стать, країна, тип продукту — мода показує домінуючу групу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83480" y="2697480"/>
            <a:ext cx="54864" cy="8686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138928" y="27340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Заповнення пропусків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38928" y="302666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df['embarked'].fillna(mode_embark) — популярний спосіб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83480" y="3794760"/>
            <a:ext cx="54864" cy="8686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138928" y="38313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Бімодальні розподіли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38928" y="412394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моди — сигнал про дві різні групи в даних!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Мінімум, максимум, range і перші підозри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1920240" cy="91440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11480" y="1051560"/>
            <a:ext cx="1920240" cy="4572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411480" y="116128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0.42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Мінімум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920240" cy="91440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2514600" y="1051560"/>
            <a:ext cx="1920240" cy="457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514600" y="116128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80.00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51460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Максимум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1051560"/>
            <a:ext cx="1920240" cy="91440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4617720" y="1051560"/>
            <a:ext cx="192024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4617720" y="116128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79.58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61772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20840" y="1051560"/>
            <a:ext cx="1920240" cy="91440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6720840" y="1051560"/>
            <a:ext cx="1920240" cy="45720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6720840" y="116128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18.00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72084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" y="2121408"/>
            <a:ext cx="4572000" cy="2606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 dirty="0"/>
          </a:p>
        </p:txBody>
      </p:sp>
      <p:sp>
        <p:nvSpPr>
          <p:cNvPr id="22" name="Shape 20"/>
          <p:cNvSpPr/>
          <p:nvPr/>
        </p:nvSpPr>
        <p:spPr>
          <a:xfrm>
            <a:off x="411480" y="2121408"/>
            <a:ext cx="54864" cy="260604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576072" y="2212848"/>
            <a:ext cx="4315968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 = df['age']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print(col.min())   # 0.42 — немовля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print(col.max())   # 80.0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print(col.max() - col.min())  # 79.58</a:t>
            </a:r>
          </a:p>
          <a:p>
            <a:pPr marL="0" indent="0">
              <a:buNone/>
            </a:pPr>
            <a:endParaRPr lang="en-US" sz="1250" dirty="0">
              <a:solidFill>
                <a:srgbClr val="00D4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IQR – interquartile range</a:t>
            </a:r>
            <a:endParaRPr lang="en-US" sz="1250" dirty="0">
              <a:solidFill>
                <a:srgbClr val="00D4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print(col.quantile(0.75) – col.quantile(0.25))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Підозрілі значення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print(df[col &lt; 1])   # 5 записів — немовлята?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print(df[col &gt; 75])  # 2 записи — реально?</a:t>
            </a:r>
          </a:p>
          <a:p>
            <a:endParaRPr lang="en-US" sz="1250" dirty="0">
              <a:solidFill>
                <a:srgbClr val="00D4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166360" y="2121408"/>
            <a:ext cx="3566160" cy="26060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303520" y="22402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 На що звертати увагу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03520" y="265176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Min &lt; 0 — якщо очікуємо позитивні (вік, ціна)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03520" y="3145536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Max дуже великий — можливий викид або помилка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303520" y="363931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C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Range &gt;&gt; IQR — є «хвіст» розподілу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03520" y="41330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C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Min == Max — колонка константна (непотрібна)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Дисперсія і стандартне відхилення</a:t>
            </a:r>
            <a:endParaRPr lang="en-US" sz="2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713232"/>
            <a:ext cx="5029200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577840" y="713232"/>
            <a:ext cx="3154680" cy="123444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5715000" y="80467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Дисперсія (var):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715000" y="10789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C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σ² = Σ(xᵢ − x̄ )² / 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577840" y="2039112"/>
            <a:ext cx="3154680" cy="123444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7"/>
          <p:cNvSpPr/>
          <p:nvPr/>
        </p:nvSpPr>
        <p:spPr>
          <a:xfrm>
            <a:off x="5715000" y="213055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Стд. відхилення (std):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0" y="240487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 = √σ² = √var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11480" y="3534306"/>
            <a:ext cx="5029200" cy="1385316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 dirty="0"/>
          </a:p>
        </p:txBody>
      </p:sp>
      <p:sp>
        <p:nvSpPr>
          <p:cNvPr id="13" name="Shape 10"/>
          <p:cNvSpPr/>
          <p:nvPr/>
        </p:nvSpPr>
        <p:spPr>
          <a:xfrm>
            <a:off x="411480" y="3534306"/>
            <a:ext cx="73152" cy="1385315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1"/>
          <p:cNvSpPr/>
          <p:nvPr/>
        </p:nvSpPr>
        <p:spPr>
          <a:xfrm>
            <a:off x="576072" y="3534306"/>
            <a:ext cx="4773168" cy="1385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col.var()   # 211.02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col.std()   # 14.53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std — в одних одиницях з x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var — </a:t>
            </a:r>
            <a:r>
              <a:rPr lang="uk-UA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 </a:t>
            </a: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квадрат</a:t>
            </a:r>
            <a:r>
              <a:rPr lang="uk-UA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них</a:t>
            </a: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uk-UA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одиницях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Правило 68-95-99.7: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μ±1σ ~ 68% даних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μ±2σ ~ 95% даних</a:t>
            </a:r>
            <a:endParaRPr lang="uk-UA" sz="1100" dirty="0">
              <a:solidFill>
                <a:srgbClr val="8892B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1100" dirty="0">
                <a:solidFill>
                  <a:srgbClr val="8892B0"/>
                </a:solidFill>
                <a:latin typeface="Consolas" pitchFamily="34" charset="0"/>
                <a:cs typeface="Consolas" pitchFamily="34" charset="-120"/>
              </a:rPr>
              <a:t># </a:t>
            </a: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μ±3σ ~ 99.7% даних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577840" y="3319272"/>
            <a:ext cx="3154680" cy="128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3"/>
          <p:cNvSpPr/>
          <p:nvPr/>
        </p:nvSpPr>
        <p:spPr>
          <a:xfrm>
            <a:off x="5715000" y="3410712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Інтерпретація std=14.5: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відступ від середнього 29.7 складає ~14.5 років → вікова группа дуже різноманітна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Квартилі, percentiles і boxplot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577839" y="1005840"/>
            <a:ext cx="3475477" cy="31089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4"/>
          <p:cNvSpPr/>
          <p:nvPr/>
        </p:nvSpPr>
        <p:spPr>
          <a:xfrm>
            <a:off x="5577840" y="1005840"/>
            <a:ext cx="54864" cy="310896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5"/>
          <p:cNvSpPr/>
          <p:nvPr/>
        </p:nvSpPr>
        <p:spPr>
          <a:xfrm>
            <a:off x="5742432" y="1097280"/>
            <a:ext cx="3537594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Квартилі вручну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= df['age'].quantile(0.25)  # 20.1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= df['age'].quantile(0.75)  # 38.0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iqr = q3 - q1                  # 17.9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Boxplot через pandas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df.boxplot(column='age',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by='pclass')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11480" y="420624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Boxplot = Q1 + медіана + Q3 + вуса (±1.5·IQR) + викиди</a:t>
            </a:r>
            <a:endParaRPr lang="en-US" sz="12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92A09C-08AB-1D1E-D5DE-15324D4BF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498" y="741784"/>
            <a:ext cx="5056631" cy="34644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Викиди: помилка чи важливий сигнал?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4069080" cy="344487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11480" y="1051560"/>
            <a:ext cx="4069080" cy="54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4864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Помилки даних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7276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Вік = -5 або 999 (помилка введення)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207568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Ціна = 0 (відсутнє значення замасковане нулем)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786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Зарплата = 9999999 (помилка в скрипті)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0815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Дата народження у майбутньому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Виправити або видалити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63440" y="1051560"/>
            <a:ext cx="4069080" cy="344487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4663440" y="1051560"/>
            <a:ext cx="4069080" cy="54864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480060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Реальні аномалії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0600" y="157276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Шахрайська транзакція (fraud detection)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800600" y="207568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Унікальний клієнт з великим чеком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00600" y="25786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Несправне обладнання (IoT anomaly)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00600" y="30815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Хворий пацієнт з критичними показниками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800600" y="4114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Зберегти і дослідити!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11480" y="46817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0C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IQR-правило: викид якщо x &lt; Q1 − 1.5·IQR  або  x &gt; Q3 + 1.5·IQR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і гістограма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4114800" cy="393192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11480" y="1051560"/>
            <a:ext cx="54864" cy="393192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76072" y="1143000"/>
            <a:ext cx="385876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matplotlib.pyplot as plt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df['age'].hist(bins=20,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color='#4f9cf9',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edgecolor='white')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plt.title('Розподіл віку')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plt.xlabel('Вік')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plt.ylabel('Кількість пасажирів')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plt.show()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Або через pandas + seaborn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seaborn as sns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sns.histplot(df['age'], kde=True)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69080" cy="39319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4800600" y="117043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розкаже гістограма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554480"/>
            <a:ext cx="54864" cy="68580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828032" y="15727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Симетричність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28032" y="18562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Рівноважний vs скошений (skewed) розподіл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350008"/>
            <a:ext cx="54864" cy="6858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82803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Пік / мода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28032" y="2651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більшість значень? Є кілька піків?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3145536"/>
            <a:ext cx="54864" cy="6858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828032" y="31638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Хвіст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28032" y="34472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Хвіст праворуч = позитивна скошеність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941064"/>
            <a:ext cx="54864" cy="685800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4828032" y="39593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Прогалини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28032" y="424281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Порожні bin-и можуть бути помилками або природними межами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Рівномірний, нормальний і Пуассона: порівняння</a:t>
            </a:r>
            <a:endParaRPr lang="en-US" sz="2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05840"/>
            <a:ext cx="8321040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3657600"/>
            <a:ext cx="2606040" cy="952185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502920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Рівномірний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041648"/>
            <a:ext cx="2423160" cy="50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Кидання кубика, номери лотереї, random.random()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0" y="3657600"/>
            <a:ext cx="2606040" cy="952185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7"/>
          <p:cNvSpPr/>
          <p:nvPr/>
        </p:nvSpPr>
        <p:spPr>
          <a:xfrm>
            <a:off x="3291840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Нормальний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291840" y="4041648"/>
            <a:ext cx="2423160" cy="50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Зріст, вага, похибки вимірювань — основа класичної статистики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3657600"/>
            <a:ext cx="2606040" cy="952185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0"/>
          <p:cNvSpPr/>
          <p:nvPr/>
        </p:nvSpPr>
        <p:spPr>
          <a:xfrm>
            <a:off x="6080760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Пуассона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080760" y="4041648"/>
            <a:ext cx="2423160" cy="50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Кількість замовлень/годину, кліки по рекламі, кількість помилок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11480" y="477316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Знати тип розподілу важливо при виборі статистичного тесту або моделі ML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Коваріація: напрям спільної зміни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8321040" cy="777240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94360" y="11430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0C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cov(X,Y) = Σ(xᵢ − x̄</a:t>
            </a:r>
            <a:r>
              <a:rPr lang="uk-UA" sz="1800" b="1" dirty="0">
                <a:solidFill>
                  <a:srgbClr val="F0C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b="1" dirty="0">
                <a:solidFill>
                  <a:srgbClr val="F0C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)(yᵢ − ȳ) / (n − 1)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11480" y="1920239"/>
            <a:ext cx="4114800" cy="2538405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411480" y="1920240"/>
            <a:ext cx="54864" cy="246888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76072" y="2011680"/>
            <a:ext cx="385876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Матриця коваріацій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cov_matrix = df[['age','fare']].cov()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print(cov_matrix)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Одна пара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cov_val = df['age'].cov(df['fare'])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print(f'cov(age,fare) = {cov_val:.2f}')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920240"/>
            <a:ext cx="4069080" cy="2538404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800600" y="20574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коваріації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24231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 &gt; 0 —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760720" y="24231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↑ → Y ↑ (позитивний зв'язок)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800600" y="29260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 &lt; 0 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760720" y="2926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↑ → Y ↓ (негативний зв'язок)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00600" y="34290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 = 0 —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760720" y="34290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Лінійного зв'язку немає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00600" y="39319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Проблема! —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760720" y="393192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Розмір cov залежить від одиниць. Порівняти cov(age,fare) і cov(height_cm,weight) неможливо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1480" y="45720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Рішення: нормалізувати коваріацію = кореляція Пірсона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Кореляція: шкала від −1 до +1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8046720" cy="5029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1341120" cy="502920"/>
          </a:xfrm>
          <a:prstGeom prst="rect">
            <a:avLst/>
          </a:prstGeom>
          <a:solidFill>
            <a:srgbClr val="FF4757">
              <a:alpha val="60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1889760" y="1005840"/>
            <a:ext cx="1341120" cy="502920"/>
          </a:xfrm>
          <a:prstGeom prst="rect">
            <a:avLst/>
          </a:prstGeom>
          <a:solidFill>
            <a:srgbClr val="FF6B4A">
              <a:alpha val="60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3230880" y="1005840"/>
            <a:ext cx="1341120" cy="502920"/>
          </a:xfrm>
          <a:prstGeom prst="rect">
            <a:avLst/>
          </a:prstGeom>
          <a:solidFill>
            <a:srgbClr val="FF9A5C">
              <a:alpha val="60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1341120" cy="502920"/>
          </a:xfrm>
          <a:prstGeom prst="rect">
            <a:avLst/>
          </a:prstGeom>
          <a:solidFill>
            <a:srgbClr val="F0C040">
              <a:alpha val="60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5913120" y="1005840"/>
            <a:ext cx="1341120" cy="502920"/>
          </a:xfrm>
          <a:prstGeom prst="rect">
            <a:avLst/>
          </a:prstGeom>
          <a:solidFill>
            <a:srgbClr val="AAD45A">
              <a:alpha val="60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7254240" y="1005840"/>
            <a:ext cx="1341120" cy="502920"/>
          </a:xfrm>
          <a:prstGeom prst="rect">
            <a:avLst/>
          </a:prstGeom>
          <a:solidFill>
            <a:srgbClr val="00FF9F">
              <a:alpha val="60000"/>
            </a:srgbClr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365760" y="15544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06880" y="15544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48000" y="15544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89120" y="15544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730240" y="15544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71360" y="15544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12480" y="15544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1115568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Сильна негат.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935480" y="1115568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Помірна негат.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76600" y="1115568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Слабка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17720" y="1115568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Слабка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8840" y="1115568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Помірна позит.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299960" y="1115568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Сильна позит.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1920240"/>
            <a:ext cx="4114800" cy="292608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Shape 24"/>
          <p:cNvSpPr/>
          <p:nvPr/>
        </p:nvSpPr>
        <p:spPr>
          <a:xfrm>
            <a:off x="411480" y="1920240"/>
            <a:ext cx="54864" cy="292608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576072" y="2011680"/>
            <a:ext cx="385876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Кореляція Пірсона (лінійний зв'язок)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df['age'].corr(df['fare'])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print(f'r = {r:.3f}')  # 0.096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Матриця кореляцій</a:t>
            </a:r>
            <a:endParaRPr lang="en-US" sz="1250" dirty="0"/>
          </a:p>
          <a:p>
            <a:pPr marL="0" indent="0">
              <a:buNone/>
            </a:pPr>
            <a:r>
              <a:rPr lang="en-US" sz="1250" dirty="0" err="1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corr_matrix</a:t>
            </a:r>
            <a:r>
              <a:rPr lang="en-US" sz="1250" dirty="0">
                <a:solidFill>
                  <a:srgbClr val="E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df[nums].corr()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Спірмена (монотонний, без норм.)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r_s = df['age'].corr(df['fare'],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method='spearman')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63440" y="1920240"/>
            <a:ext cx="4069080" cy="29260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4800600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інтерпретації |r|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00600" y="24505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0.3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852160" y="2450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Слабкий зв'язок (або його немає)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800600" y="29077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C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0.3–0.5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852160" y="29077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Помірний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800600" y="33649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0.5–0.7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852160" y="33649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Середній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800600" y="38221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0.7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852160" y="38221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Сильний зв'язок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800600" y="42793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852160" y="42793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Ідеальна лінійна залежність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і heatmap як візуальна перевірка кореляції</a:t>
            </a:r>
            <a:endParaRPr lang="en-US" sz="2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747" y="1328166"/>
            <a:ext cx="8321040" cy="24871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Кореляція не означає причинність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solidFill>
            <a:srgbClr val="1A0D0D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11480" y="1005840"/>
            <a:ext cx="8321040" cy="54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94360" y="10972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r = 0.95  ≠  X спричиняє Y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11480" y="2103120"/>
            <a:ext cx="8321040" cy="80467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54864" cy="80467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94360" y="2157984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"Продажі морозива"  ↔  "Кількість потоплень"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50545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Прихована змінна: жара/літо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2999232"/>
            <a:ext cx="8321040" cy="80467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411480" y="2999232"/>
            <a:ext cx="54864" cy="80467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94360" y="3054096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"Кількість фільмів Ніколаса Кейджа"  ↔  "Смерті від падіння у басейн"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34015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Spurious correlation (псевдокореляція)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3895344"/>
            <a:ext cx="8321040" cy="80467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411480" y="3895344"/>
            <a:ext cx="54864" cy="804672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94360" y="39502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"Кількість пожарників на місці"  ↔  "Збитки від пожежі"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4297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Зворотна причинність: більша пожежа → більше пожарників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" y="47731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Кореляція — це стартова точка розслідування, а не відповідь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Практичний чекліст статистичного огляду в pandas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8321040" cy="512064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11480" y="1005840"/>
            <a:ext cx="411480" cy="512064"/>
          </a:xfrm>
          <a:prstGeom prst="rect">
            <a:avLst/>
          </a:prstGeom>
          <a:solidFill>
            <a:srgbClr val="4F9CF9">
              <a:alpha val="60000"/>
            </a:srgbClr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411480" y="1005840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1051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Завантажити і подивитись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9080" y="1060704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df.shape, df.dtypes, df.head()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581912"/>
            <a:ext cx="8321040" cy="512064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411480" y="1581912"/>
            <a:ext cx="411480" cy="512064"/>
          </a:xfrm>
          <a:prstGeom prst="rect">
            <a:avLst/>
          </a:prstGeom>
          <a:solidFill>
            <a:srgbClr val="FF6B35">
              <a:alpha val="60000"/>
            </a:srgbClr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11480" y="1581912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162763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Пропуски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636776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df.isnull().sum(), df.isnull().mean()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157984"/>
            <a:ext cx="8321040" cy="512064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411480" y="2157984"/>
            <a:ext cx="411480" cy="512064"/>
          </a:xfrm>
          <a:prstGeom prst="rect">
            <a:avLst/>
          </a:prstGeom>
          <a:solidFill>
            <a:srgbClr val="00D4FF">
              <a:alpha val="6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11480" y="2157984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0370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Описова статистика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069080" y="2212848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df.describe()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2734056"/>
            <a:ext cx="8321040" cy="512064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411480" y="2734056"/>
            <a:ext cx="411480" cy="512064"/>
          </a:xfrm>
          <a:prstGeom prst="rect">
            <a:avLst/>
          </a:prstGeom>
          <a:solidFill>
            <a:srgbClr val="00FF9F">
              <a:alpha val="60000"/>
            </a:srgbClr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411480" y="2734056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60120" y="277977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числових колонок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069080" y="278892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df[col].hist(bins=30), sns.histplot()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3310128"/>
            <a:ext cx="8321040" cy="512064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Shape 24"/>
          <p:cNvSpPr/>
          <p:nvPr/>
        </p:nvSpPr>
        <p:spPr>
          <a:xfrm>
            <a:off x="411480" y="3310128"/>
            <a:ext cx="411480" cy="512064"/>
          </a:xfrm>
          <a:prstGeom prst="rect">
            <a:avLst/>
          </a:prstGeom>
          <a:solidFill>
            <a:srgbClr val="A855F7">
              <a:alpha val="6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411480" y="3310128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60120" y="33558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Викиди (IQR rule)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069080" y="3364992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q1,q3 = df[col].quantile([.25,.75]); iqr=q3-q1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11480" y="3886200"/>
            <a:ext cx="8321040" cy="512064"/>
          </a:xfrm>
          <a:prstGeom prst="rect">
            <a:avLst/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Shape 29"/>
          <p:cNvSpPr/>
          <p:nvPr/>
        </p:nvSpPr>
        <p:spPr>
          <a:xfrm>
            <a:off x="411480" y="3886200"/>
            <a:ext cx="411480" cy="512064"/>
          </a:xfrm>
          <a:prstGeom prst="rect">
            <a:avLst/>
          </a:prstGeom>
          <a:solidFill>
            <a:srgbClr val="F0C040">
              <a:alpha val="60000"/>
            </a:srgbClr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411480" y="3886200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C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60120" y="39319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Кореляційна матриця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069080" y="3941064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sns.heatmap(df.corr(), annot=True)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11480" y="4462272"/>
            <a:ext cx="8321040" cy="512064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6" name="Shape 34"/>
          <p:cNvSpPr/>
          <p:nvPr/>
        </p:nvSpPr>
        <p:spPr>
          <a:xfrm>
            <a:off x="411480" y="4462272"/>
            <a:ext cx="411480" cy="512064"/>
          </a:xfrm>
          <a:prstGeom prst="rect">
            <a:avLst/>
          </a:prstGeom>
          <a:solidFill>
            <a:srgbClr val="FF6B35">
              <a:alpha val="60000"/>
            </a:srgbClr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411480" y="4462272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60120" y="45079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Категоріальні колонки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069080" y="4517136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df[cat_col].value_counts(normalize=True)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11480" y="8686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 інтерпретації на Titanic dataset</a:t>
            </a:r>
            <a:endParaRPr lang="en-US" sz="2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713232"/>
            <a:ext cx="5303520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97880" y="713232"/>
            <a:ext cx="2834640" cy="25603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6035040" y="8229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035040" y="117043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клас: 63% виживань проти 24% у 3-му → сильна кореляція класу і виживання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166420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 в 1-му класі — сильний викид вгору (VIP пасажири)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35040" y="215798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pclass і fare: r ≈ −0.55 → сильна негативна кореляція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035040" y="265176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Вік і виживання: r ≈ −0.08 (слабкий зв'язок)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11480" y="3364992"/>
            <a:ext cx="5303520" cy="16916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 dirty="0"/>
          </a:p>
        </p:txBody>
      </p:sp>
      <p:sp>
        <p:nvSpPr>
          <p:cNvPr id="13" name="Shape 10"/>
          <p:cNvSpPr/>
          <p:nvPr/>
        </p:nvSpPr>
        <p:spPr>
          <a:xfrm>
            <a:off x="411480" y="3364992"/>
            <a:ext cx="73152" cy="169164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1"/>
          <p:cNvSpPr/>
          <p:nvPr/>
        </p:nvSpPr>
        <p:spPr>
          <a:xfrm>
            <a:off x="576072" y="3456432"/>
            <a:ext cx="5047488" cy="1508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Повний аналіз за чеклістом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pd.read_csv('titanic.csv')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print(df.describe())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print(df.isnull().sum())</a:t>
            </a:r>
            <a:endParaRPr lang="uk-UA" sz="1100" dirty="0">
              <a:solidFill>
                <a:srgbClr val="00D4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Кореляція з target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['survived','pclass','age','sibsp','parch','fare']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FF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df[nums].corr()['survived</a:t>
            </a:r>
            <a:r>
              <a:rPr lang="en-US" sz="1100" dirty="0">
                <a:solidFill>
                  <a:srgbClr val="00FF9F"/>
                </a:solidFill>
                <a:latin typeface="Consolas" pitchFamily="34" charset="0"/>
                <a:cs typeface="Consolas" pitchFamily="34" charset="-120"/>
              </a:rPr>
              <a:t>'].sort_values(ascending=False)</a:t>
            </a:r>
          </a:p>
        </p:txBody>
      </p:sp>
      <p:sp>
        <p:nvSpPr>
          <p:cNvPr id="15" name="Text 12"/>
          <p:cNvSpPr/>
          <p:nvPr/>
        </p:nvSpPr>
        <p:spPr>
          <a:xfrm>
            <a:off x="5897880" y="37307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0C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pclass: −0.34  |  fare: +0.26  |  age: −0.08  |  sibsp: −0.04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897880" y="4233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F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Клас квитка — найсильніший предиктор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Підсумок заняття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3000" b="1" dirty="0">
                <a:solidFill>
                  <a:srgbClr val="E0E8FF"/>
                </a:solidFill>
                <a:latin typeface="Calibri" pitchFamily="34" charset="0"/>
                <a:cs typeface="Calibri" pitchFamily="34" charset="-120"/>
              </a:rPr>
              <a:t>Що розглянули сьогодні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4206240" cy="89611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457200" y="1298448"/>
            <a:ext cx="54864" cy="896112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94360" y="1298448"/>
            <a:ext cx="594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34440" y="1353312"/>
            <a:ext cx="3337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Розраховувати mean, median, mode, std, quantile в pandas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322576"/>
            <a:ext cx="4206240" cy="89611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457200" y="2322576"/>
            <a:ext cx="54864" cy="89611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94360" y="2322576"/>
            <a:ext cx="594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34440" y="2377440"/>
            <a:ext cx="3337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boxplot і знаходити викиди за IQR-правилом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206240" cy="89611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457200" y="3346704"/>
            <a:ext cx="54864" cy="896112"/>
          </a:xfrm>
          <a:prstGeom prst="rect">
            <a:avLst/>
          </a:prstGeom>
          <a:solidFill>
            <a:srgbClr val="00FF9F"/>
          </a:solidFill>
          <a:ln w="12700">
            <a:solidFill>
              <a:srgbClr val="00FF9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94360" y="3346704"/>
            <a:ext cx="594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34440" y="3401568"/>
            <a:ext cx="3337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Аналізувати гістограму і визначати тип розподілу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892040" y="1298448"/>
            <a:ext cx="4206240" cy="89611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4892040" y="1298448"/>
            <a:ext cx="54864" cy="89611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029200" y="1298448"/>
            <a:ext cx="594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669280" y="1353312"/>
            <a:ext cx="3337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Будувати кореляційну матрицю і heatmap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892040" y="2322576"/>
            <a:ext cx="4206240" cy="89611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4892040" y="2322576"/>
            <a:ext cx="54864" cy="89611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5029200" y="2322576"/>
            <a:ext cx="594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669280" y="2377440"/>
            <a:ext cx="3337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Пам'ятати: кореляція ≠ причинність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892040" y="3346704"/>
            <a:ext cx="4206240" cy="89611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4892040" y="3346704"/>
            <a:ext cx="54864" cy="896112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029200" y="3346704"/>
            <a:ext cx="594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669280" y="3401568"/>
            <a:ext cx="3337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Проходити статистичний чекліст перед побудовою моделі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457200" y="4846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Наступне заняття: Matplotlib та Seaborn — повна візуалізація даних  →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2915</TotalTime>
  <Words>1999</Words>
  <Application>Microsoft Office PowerPoint</Application>
  <PresentationFormat>Екран (16:9)</PresentationFormat>
  <Paragraphs>367</Paragraphs>
  <Slides>21</Slides>
  <Notes>21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Основи статистики для аналізу даних</dc:title>
  <dc:subject>PptxGenJS Presentation</dc:subject>
  <dc:creator>Data Science Course</dc:creator>
  <cp:lastModifiedBy>Михайлець Альбіна</cp:lastModifiedBy>
  <cp:revision>6</cp:revision>
  <dcterms:created xsi:type="dcterms:W3CDTF">2026-06-02T19:33:15Z</dcterms:created>
  <dcterms:modified xsi:type="dcterms:W3CDTF">2026-06-05T15:09:19Z</dcterms:modified>
</cp:coreProperties>
</file>