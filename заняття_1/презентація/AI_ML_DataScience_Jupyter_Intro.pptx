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5"/>
    <p:restoredTop sz="94610"/>
  </p:normalViewPr>
  <p:slideViewPr>
    <p:cSldViewPr snapToGrid="0" snapToObjects="1">
      <p:cViewPr>
        <p:scale>
          <a:sx n="204" d="100"/>
          <a:sy n="204" d="100"/>
        </p:scale>
        <p:origin x="1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880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1: Привітайте студентів. Представтесь і розкажіть про структуру курсу. Цей курс практичний — багато коду, мало теорії заради теорії.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2: Пройдіться по кожному модулю. Акцентуйте увагу на Модулі 8 — там студенти будуть працювати з OpenAI API та хмарними сервісами. Запитайте студентів, яка тема їх цікавить найбільше.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3: Поясніть загальний шлях курсу. Кожен блок будується на попередньому. Після цього курсу студенти зможуть будувати реальні AI-продукти.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4: Наголосіть, що AI — не новинка, але масштаб змінився кардинально після 2017. Запитайте: хтось чув про Трансформери або ChatGPT? Більшість студентів точно чули — це добрий стартовий зв'язок.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5: Поясніть: AI — найширша концепція. Все що ми будемо вивчати — це різні інструменти всередині AI. Запитайте студентів: де ви вже сьогодні стикались з AI?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6: Data Science — це про відповіді на питання за допомогою даних. Наприклад: 'Які клієнти скасують підписку?' або 'Яка реклама ефективніша?' — це Data Science задачі.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7: Ключова ідея — замість правил ми даємо приклади. Покажіть: якщо показати 10000 фото котів і собак, модель сама навчиться відрізняти їх — без жодного if/else.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8: Часто плутають ці поняття. Проведіть аналогію: AI = транспорт, ML = автомобіль, Deep Learning = електромобіль. Data Science — більше про аналіз і висновки, менш про продукт.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9: Три ключові парадигми. Supervised — найчастіше використовується в індустрії. Unsupervised — для розвідки даних. Reinforcement — для ігор та роботики. У нашому курсі фокус на Supervised і Unsupervised.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10: Запитайте студентів — яку задачу вирішує Netflix коли рекомендує серіали? (Класифікація/Ранжування). Яку задачу вирішує Uber при розрахунку ціни поїздки? (Регресія).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11: Поясніть RL на прикладі: уявіть щура в лабіринті — він пробує різні шляхи і отримує їжу (нагороду) коли знаходить вихід. Поступово навчається оптимальному маршруту — це і є 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12: Це базова мова ML. Без розуміння цих термінів неможливо читати документацію чи код. Поясніть train/test split: ми не можемо перевіряти модель на тих самих даних, на яких вчили — це як давати студенту ті самі задачі на екзамені.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13: Продемонструйте Jupyter живо! Відкрийте JupyterLab, створіть новий ноутбук і покажіть як виконати кілька клітинок. Студенти повинні мати його встановленим до наступного </a:t>
            </a:r>
            <a:r>
              <a:rPr lang="en-US" dirty="0" err="1"/>
              <a:t>заняття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14: Фінал </a:t>
            </a:r>
            <a:r>
              <a:rPr lang="en-US" dirty="0" err="1"/>
              <a:t>заняття</a:t>
            </a:r>
            <a:r>
              <a:rPr lang="en-US" dirty="0"/>
              <a:t>. Запитайте студентів: що було найцікавішим? Що незрозумілим? Нагадайте про ДЗ — встановити Jupyter та запустити перший ноутбук. Наступне </a:t>
            </a:r>
            <a:r>
              <a:rPr lang="en-US" dirty="0" err="1"/>
              <a:t>заняття</a:t>
            </a:r>
            <a:r>
              <a:rPr lang="en-US" dirty="0"/>
              <a:t> починаємо з Pandas та реальними даними.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Створення AI додатків з використанням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02706"/>
            <a:ext cx="5943600" cy="244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 до AI, ML,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Jupyter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42291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4B8A6"/>
                </a:solidFill>
              </a:rPr>
              <a:t>Заняття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100584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132320" y="18288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132320" y="26517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132320" y="34747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8869680" y="17373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8869680" y="26517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7214616" y="1088136"/>
            <a:ext cx="914400" cy="36576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7214616" y="1088136"/>
            <a:ext cx="914400" cy="128016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7214616" y="1088136"/>
            <a:ext cx="914400" cy="219456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 flipV="1">
            <a:off x="7214616" y="1463038"/>
            <a:ext cx="923544" cy="448058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7214616" y="1911096"/>
            <a:ext cx="914400" cy="45720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7214616" y="1911096"/>
            <a:ext cx="914400" cy="137160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 flipV="1">
            <a:off x="7214616" y="1463037"/>
            <a:ext cx="923544" cy="1271019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 flipV="1">
            <a:off x="7214616" y="2377438"/>
            <a:ext cx="923544" cy="356618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7214616" y="2734056"/>
            <a:ext cx="914400" cy="54864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 flipV="1">
            <a:off x="7214616" y="1463038"/>
            <a:ext cx="923544" cy="2093978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 flipV="1">
            <a:off x="7214616" y="2368295"/>
            <a:ext cx="923544" cy="1188721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 flipV="1">
            <a:off x="7214616" y="3273553"/>
            <a:ext cx="896112" cy="283463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8129016" y="1453896"/>
            <a:ext cx="822960" cy="36576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8129016" y="1453896"/>
            <a:ext cx="822960" cy="128016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 flipV="1">
            <a:off x="8129015" y="1828798"/>
            <a:ext cx="832081" cy="539498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8129016" y="2368296"/>
            <a:ext cx="822960" cy="365760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 flipV="1">
            <a:off x="8129016" y="1828798"/>
            <a:ext cx="832080" cy="1453898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 flipV="1">
            <a:off x="8129016" y="2743199"/>
            <a:ext cx="822960" cy="539497"/>
          </a:xfrm>
          <a:prstGeom prst="line">
            <a:avLst/>
          </a:prstGeom>
          <a:noFill/>
          <a:ln w="635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2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план курсу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26579"/>
              </p:ext>
            </p:extLst>
          </p:nvPr>
        </p:nvGraphicFramePr>
        <p:xfrm>
          <a:off x="457200" y="731520"/>
          <a:ext cx="8229600" cy="39593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Вступ до штучного інтелекту та науки про дані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Обробка та аналіз даних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Алгоритми навчання з учителем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Основи нейронних мереж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Нейронні мережі в комп'ютерному зорі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Обробка природної мови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Навчання без учителя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Використання наявних рішень (LLM, OpenAI API та хмарні сервіси)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курсу: від даних до AI-додатків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078992" cy="1188720"/>
          </a:xfrm>
          <a:prstGeom prst="rect">
            <a:avLst/>
          </a:prstGeom>
          <a:solidFill>
            <a:srgbClr val="0D9488">
              <a:alpha val="8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07899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10789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Дані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&amp; Інструменти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81328" y="1965960"/>
            <a:ext cx="1280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627632" y="1371600"/>
            <a:ext cx="1078992" cy="1188720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627632" y="1371600"/>
            <a:ext cx="107899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627632" y="137160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27632" y="1719072"/>
            <a:ext cx="10789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Аналіз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даних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965960"/>
            <a:ext cx="1280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2889504" y="1371600"/>
            <a:ext cx="1078992" cy="1188720"/>
          </a:xfrm>
          <a:prstGeom prst="rect">
            <a:avLst/>
          </a:prstGeom>
          <a:solidFill>
            <a:srgbClr val="2563EB">
              <a:alpha val="80000"/>
            </a:srgbClr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2889504" y="1371600"/>
            <a:ext cx="107899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889504" y="137160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9504" y="1719072"/>
            <a:ext cx="10789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Навчання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з учителем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05072" y="1965960"/>
            <a:ext cx="1280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151376" y="1371600"/>
            <a:ext cx="1078992" cy="118872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151376" y="1371600"/>
            <a:ext cx="107899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151376" y="137160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4-5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51376" y="1719072"/>
            <a:ext cx="10789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Нейронні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мережі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66944" y="1965960"/>
            <a:ext cx="1280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413248" y="1371600"/>
            <a:ext cx="1078992" cy="1188720"/>
          </a:xfrm>
          <a:prstGeom prst="rect">
            <a:avLst/>
          </a:prstGeom>
          <a:solidFill>
            <a:srgbClr val="DB2777">
              <a:alpha val="80000"/>
            </a:srgbClr>
          </a:solidFill>
          <a:ln w="190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413248" y="1371600"/>
            <a:ext cx="1078992" cy="3200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413248" y="137160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13248" y="1719072"/>
            <a:ext cx="10789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Мова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(NLP)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28816" y="1965960"/>
            <a:ext cx="1280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6675120" y="1371600"/>
            <a:ext cx="1078992" cy="1188720"/>
          </a:xfrm>
          <a:prstGeom prst="rect">
            <a:avLst/>
          </a:prstGeom>
          <a:solidFill>
            <a:srgbClr val="D97706">
              <a:alpha val="80000"/>
            </a:srgbClr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6675120" y="1371600"/>
            <a:ext cx="1078992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675120" y="137160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75120" y="1719072"/>
            <a:ext cx="10789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Без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учителя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90688" y="1965960"/>
            <a:ext cx="1280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7936992" y="1371600"/>
            <a:ext cx="1078992" cy="118872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7936992" y="1371600"/>
            <a:ext cx="107899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7936992" y="137160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936992" y="1719072"/>
            <a:ext cx="10789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LLM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2999232"/>
            <a:ext cx="8412480" cy="685800"/>
          </a:xfrm>
          <a:prstGeom prst="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502920" y="2880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Результат: </a:t>
            </a:r>
            <a:r>
              <a:rPr lang="uk-UA" sz="1400" b="1" dirty="0">
                <a:solidFill>
                  <a:srgbClr val="FFFFFF"/>
                </a:solidFill>
              </a:rPr>
              <a:t>навчитися</a:t>
            </a:r>
            <a:r>
              <a:rPr lang="en-US" sz="1400" b="1" dirty="0">
                <a:solidFill>
                  <a:srgbClr val="FFFFFF"/>
                </a:solidFill>
              </a:rPr>
              <a:t> будувати AI-додатки — від EDA до деплою моделей та інтеграції з LLM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розвивався штучний інтелект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788920"/>
            <a:ext cx="8321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84632" y="27066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66927" y="1691640"/>
            <a:ext cx="1" cy="1005840"/>
          </a:xfrm>
          <a:prstGeom prst="line">
            <a:avLst/>
          </a:prstGeom>
          <a:noFill/>
          <a:ln w="9525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1950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Тест Тюринга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Чи може машина мислити?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10512" y="27066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 flipH="1">
            <a:off x="1892807" y="2871216"/>
            <a:ext cx="1" cy="698577"/>
          </a:xfrm>
          <a:prstGeom prst="line">
            <a:avLst/>
          </a:prstGeom>
          <a:noFill/>
          <a:ln w="9525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645920" y="356979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1956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79839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Термін 'AI'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5920" y="4026993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Конференція в Дартмуті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36392" y="270662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218688" y="1645920"/>
            <a:ext cx="0" cy="1051560"/>
          </a:xfrm>
          <a:prstGeom prst="line">
            <a:avLst/>
          </a:prstGeom>
          <a:noFill/>
          <a:ln w="9525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017520" y="960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</a:rPr>
              <a:t>1986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Backprop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Навчання нейромереж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99432" y="270662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 flipH="1">
            <a:off x="4681727" y="2871216"/>
            <a:ext cx="1" cy="726006"/>
          </a:xfrm>
          <a:prstGeom prst="line">
            <a:avLst/>
          </a:prstGeom>
          <a:noFill/>
          <a:ln w="9525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489704" y="356979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</a:rPr>
              <a:t>2012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9704" y="379839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Deep Learning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9704" y="4026993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AlexNet — прорив у CV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16752" y="2706624"/>
            <a:ext cx="164592" cy="164592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099048" y="1673352"/>
            <a:ext cx="0" cy="1024128"/>
          </a:xfrm>
          <a:prstGeom prst="line">
            <a:avLst/>
          </a:prstGeom>
          <a:noFill/>
          <a:ln w="9525">
            <a:solidFill>
              <a:srgbClr val="DB277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897880" y="960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B2777"/>
                </a:solidFill>
              </a:rPr>
              <a:t>2017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97880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978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Архітектура 'Attention'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25512" y="27066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7607807" y="2871216"/>
            <a:ext cx="7909" cy="726002"/>
          </a:xfrm>
          <a:prstGeom prst="line">
            <a:avLst/>
          </a:prstGeom>
          <a:noFill/>
          <a:ln w="9525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7406640" y="356979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</a:rPr>
              <a:t>2022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79839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ChatGPT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06640" y="4026993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AI у кожному домі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</a:rPr>
              <a:t>💡  70 років досліджень → останні 5 років = більше прогресу, ніж усі попередні разом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Що таке Artificial Intelligence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75488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Штучний інтелект — це галузь комп'ютерних наук, мета якої — створити системи, здатні виконувати завдання, що зазвичай потребують людського інтелекту.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920240" cy="841248"/>
          </a:xfrm>
          <a:prstGeom prst="rect">
            <a:avLst/>
          </a:prstGeom>
          <a:solidFill>
            <a:srgbClr val="0D9488">
              <a:alpha val="2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920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Розпізнавати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образи, обличчя, голос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874520"/>
            <a:ext cx="1920240" cy="841248"/>
          </a:xfrm>
          <a:prstGeom prst="rect">
            <a:avLst/>
          </a:prstGeom>
          <a:solidFill>
            <a:srgbClr val="2563EB">
              <a:alpha val="20000"/>
            </a:srgbClr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377440" y="1874520"/>
            <a:ext cx="1920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37744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Розуміти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тексти, запити, наміри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874520"/>
            <a:ext cx="1920240" cy="841248"/>
          </a:xfrm>
          <a:prstGeom prst="rect">
            <a:avLst/>
          </a:prstGeom>
          <a:solidFill>
            <a:srgbClr val="7C3AED">
              <a:alpha val="20000"/>
            </a:srgbClr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19202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38912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Приймати рішення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гра, медицина, авто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1920240" cy="841248"/>
          </a:xfrm>
          <a:prstGeom prst="rect">
            <a:avLst/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6400800" y="1874520"/>
            <a:ext cx="1920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Генерувати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текст, зображення, код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944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Приклади в реальному житті: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41148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02920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🎵  Spotify рекомендує пісні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13048"/>
            <a:ext cx="41148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02920" y="3813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🚗  Tesla автопілот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88536"/>
            <a:ext cx="41148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02920" y="4288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📧  Gmail фільтрує спам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37560"/>
            <a:ext cx="41148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92040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🤖  ChatGPT відповідає на питання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13048"/>
            <a:ext cx="41148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92040" y="3813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📸  Face ID розблоковує телефон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Що таке Data Science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57200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7315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Data Science — міждисциплінарна галузь, що поєднує статистику, програмування та знання домену для вилучення корисних знань із даних.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35040" y="685800"/>
            <a:ext cx="2011680" cy="20116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486400" y="160020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2011680" cy="20116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172200" y="777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Статис-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тика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40680" y="2743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Програм-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ування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12280" y="2743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Знання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домену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184708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6576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1828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Збір даних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1828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CSV, API, бази даних, scraping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414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6576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423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Очищення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2423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NaN, дублікати, типи даних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6576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Аналіз (EDA)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3017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Pandas, Matplotlib, Seaborn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3016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6576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3611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Моделювання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8892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sklearn, TensorFlow, PyTorch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36576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4206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Висновки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88920" y="4206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Звіти, дашборди, рекомендації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Що таке Machine Learning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612648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5719" cy="612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Machine Learning — підгалузь AI, де система навчається на прикладах (даних), а не програмується явними правилами. Модель сама знаходить закономірності.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2777"/>
                </a:solidFill>
              </a:rPr>
              <a:t>Традиційне програмування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Machine Learning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1097280" cy="731520"/>
          </a:xfrm>
          <a:prstGeom prst="rect">
            <a:avLst/>
          </a:prstGeom>
          <a:solidFill>
            <a:srgbClr val="DB2777">
              <a:alpha val="25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Дані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148840"/>
            <a:ext cx="1097280" cy="73152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Дані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91640" y="2148840"/>
            <a:ext cx="1097280" cy="731520"/>
          </a:xfrm>
          <a:prstGeom prst="rect">
            <a:avLst/>
          </a:prstGeom>
          <a:solidFill>
            <a:srgbClr val="DB2777">
              <a:alpha val="25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1691640" y="21488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Правила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(код)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2148840"/>
            <a:ext cx="1097280" cy="73152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080760" y="21488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Відповіді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(мітки)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6078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17520" y="2148840"/>
            <a:ext cx="1097280" cy="731520"/>
          </a:xfrm>
          <a:prstGeom prst="rect">
            <a:avLst/>
          </a:prstGeom>
          <a:solidFill>
            <a:srgbClr val="DB2777">
              <a:alpha val="25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017520" y="21488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Відповіді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2148840"/>
            <a:ext cx="1097280" cy="73152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406640" y="21488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Модель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8412480" cy="722376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48640" y="310896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🧠  Аналогія: дитина вчиться розрізняти собак і котів, дивлячись на приклади — без явних правил. ML робить те саме з числами.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20116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36576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Навчальна вибірка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дані для тренування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4224528"/>
            <a:ext cx="20116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251460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Ознаки (Features)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1460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вхідні змінні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24528"/>
            <a:ext cx="20116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66344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Модель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математична функція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4224528"/>
            <a:ext cx="20116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681228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Передбачення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вихід моделі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AI, ML і Data Science: у чому різниця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91641" y="771603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1664708" y="98930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86001" y="1411683"/>
            <a:ext cx="2468880" cy="2468880"/>
          </a:xfrm>
          <a:prstGeom prst="ellipse">
            <a:avLst/>
          </a:prstGeom>
          <a:solidFill>
            <a:srgbClr val="7C3AED">
              <a:alpha val="18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077441" y="1503123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</a:rPr>
              <a:t>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80361" y="2051763"/>
            <a:ext cx="1280160" cy="1280160"/>
          </a:xfrm>
          <a:prstGeom prst="ellipse">
            <a:avLst/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2580361" y="2234643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Deep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20441" y="3057603"/>
            <a:ext cx="2377440" cy="18288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043401" y="3880563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D3FC"/>
                </a:solidFill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DD3FC"/>
                </a:solidFill>
              </a:rPr>
              <a:t>Science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777240"/>
            <a:ext cx="201168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766560" y="777240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766560" y="777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078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Найширша категорія. Будь-яка система, що імітує інтелект.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1856232"/>
            <a:ext cx="201168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766560" y="1856232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766560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1579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Підмножина AI. Алгоритми, що навчаються на даних.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2935224"/>
            <a:ext cx="201168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766560" y="2935224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76656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23697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Підмножина ML. Глибокі нейронні мережі.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0" y="4014216"/>
            <a:ext cx="201168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6766560" y="4014216"/>
            <a:ext cx="20116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766560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Science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4315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Ширша галузь: статистика + ML + аналіз даних.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Види машинного навчання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74320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👨‍🏫  Навчання з учителем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43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D9488"/>
                </a:solidFill>
              </a:rPr>
              <a:t>Supervised Learning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Дані + правильні відповіді (мітки). Модель вчиться передбачати.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542032"/>
            <a:ext cx="2560320" cy="0"/>
          </a:xfrm>
          <a:prstGeom prst="line">
            <a:avLst/>
          </a:prstGeom>
          <a:noFill/>
          <a:ln w="635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11480" y="273367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Приклади: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35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Класифікація (spam/не spam)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163825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Регресія (ціна квартири)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804672"/>
            <a:ext cx="274320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246120" y="804672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24612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Навчання без учителя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243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3AED"/>
                </a:solidFill>
              </a:rPr>
              <a:t>Unsupervised Learning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Тільки дані, без міток. Модель сама знаходить структуру.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2542032"/>
            <a:ext cx="256032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337560" y="273367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Приклади: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935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Кластеризація (сегменти клієнтів)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163825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Зменшення розмірності (PCA)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804672"/>
            <a:ext cx="274320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172200" y="804672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17220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🎮  Навчання з підкріпленням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243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9E0B"/>
                </a:solidFill>
              </a:rPr>
              <a:t>Reinforcement Learning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Агент діє у середовищі, отримує нагороду або штраф.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542032"/>
            <a:ext cx="2560320" cy="0"/>
          </a:xfrm>
          <a:prstGeom prst="line">
            <a:avLst/>
          </a:prstGeom>
          <a:noFill/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263640" y="273367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Приклади: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935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Гра в шахи (AlphaZero)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163825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Керування роботом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Навчання з учителем: застосування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КЛАСИФІКАЦІЯ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749808"/>
            <a:ext cx="4114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66344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РЕГРЕСІЯ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Виходи — категорії (так/ні, A/B/C)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1148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66344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Виходи — числа (ціна, температура)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4114800" cy="658368"/>
          </a:xfrm>
          <a:prstGeom prst="rect">
            <a:avLst/>
          </a:prstGeom>
          <a:solidFill>
            <a:srgbClr val="0F2A2A"/>
          </a:solidFill>
          <a:ln w="6350">
            <a:solidFill>
              <a:srgbClr val="1E4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📧  Фільтр спаму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1883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Spam або Not Spam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536192"/>
            <a:ext cx="4114800" cy="658368"/>
          </a:xfrm>
          <a:prstGeom prst="rect">
            <a:avLst/>
          </a:prstGeom>
          <a:solidFill>
            <a:srgbClr val="0A1535"/>
          </a:solidFill>
          <a:ln w="6350">
            <a:solidFill>
              <a:srgbClr val="1E2F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🏠  Ціна нерухомості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883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Передбачення вартості в $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1148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4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02920" y="23225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🏥  Діагностика хвороби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Є захворювання / Немає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1148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2F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00600" y="23225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📈  Прогноз продажів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2633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Кількість одиниць наступного місяця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35808"/>
            <a:ext cx="4114800" cy="658368"/>
          </a:xfrm>
          <a:prstGeom prst="rect">
            <a:avLst/>
          </a:prstGeom>
          <a:solidFill>
            <a:srgbClr val="0F2A2A"/>
          </a:solidFill>
          <a:ln w="6350">
            <a:solidFill>
              <a:srgbClr val="1E4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02920" y="30723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🎭  Аналіз тональності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Позитив / Негатив / Нейтрал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35808"/>
            <a:ext cx="4114800" cy="658368"/>
          </a:xfrm>
          <a:prstGeom prst="rect">
            <a:avLst/>
          </a:prstGeom>
          <a:solidFill>
            <a:srgbClr val="0A1535"/>
          </a:solidFill>
          <a:ln w="6350">
            <a:solidFill>
              <a:srgbClr val="1E2F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800600" y="30723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🌡️  Прогноз погоди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Температура +N°C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85616"/>
            <a:ext cx="41148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4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02920" y="38221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🖼️  Розпізнавання зображень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4133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Кіт / Собака / Птах...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785616"/>
            <a:ext cx="41148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2F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800600" y="38221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💰  Кредитний скоринг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00600" y="4133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Імовірність погашення 0..1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Навчання без учителя та з підкріпленням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НАВЧАННЯ БЕЗ УЧИТЕЛЯ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937760" cy="795528"/>
          </a:xfrm>
          <a:prstGeom prst="rect">
            <a:avLst/>
          </a:prstGeom>
          <a:solidFill>
            <a:srgbClr val="1E293B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Данні без міток. Модель шукає приховану структуру, групи або спрощення.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4937760" cy="8686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Кластеризація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K-Means, DBSCAN — знайти групи схожих об'єктів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59689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Сегментація клієнтів за поведінкою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4937760" cy="8686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Зменшення розмірності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009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PCA, t-SNE — стиснути дані, зберігши інформацію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55701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Візуалізація 100-вимірних даних у 2D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4937760" cy="8686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02920" y="3995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Пошук аномалій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Isolation Forest — знайти нетипові точки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Виявлення шахрайства з карткою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749808"/>
            <a:ext cx="3291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486400" y="749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0A00"/>
                </a:solidFill>
              </a:rPr>
              <a:t>🎮  REINFORCEMENT LEARNING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1170432"/>
            <a:ext cx="3291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577840" y="1216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🤖 Агент (Agent)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1536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Той, хто навчається й діє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0" y="1975104"/>
            <a:ext cx="3291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577840" y="20208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🌍 Середовище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3408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Де відбуваються дії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0" y="2779776"/>
            <a:ext cx="3291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577840" y="28254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🎯 Нагорода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1455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Зворотній зв'язок за дії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0" y="3584448"/>
            <a:ext cx="3291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577840" y="3630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📋 Стратегія (Policy)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9502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Правило дій у кожній ситуації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Відомі застосування: AlphaGo, ChatGPT RLHF, керування роботами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Датасет, ознаки та цільова ознака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Приклад датасету: передбачення ціни будинку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640080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 (м²)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Кімнати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Район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🎯 Ціна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Північ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20440"/>
            <a:ext cx="3017520" cy="5029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502920" y="35478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⬛  Features (Ознаки 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Вхідні дані, за якими вчимось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520440" y="3520440"/>
            <a:ext cx="3200400" cy="5029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3657600" y="35478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🎯  Target (Цільова ознака 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Те, що ми хочемо передбачити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949440" y="1115568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7040880" y="1143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Датасет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40880" y="13716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Таблиця всіх прикладів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49440" y="1709928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10"/>
          <p:cNvSpPr/>
          <p:nvPr/>
        </p:nvSpPr>
        <p:spPr>
          <a:xfrm>
            <a:off x="7040880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Рядок = sample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40880" y="1965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Один приклад/спостереження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49440" y="2304288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7040880" y="2331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Стовпець = feature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40880" y="2560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Ознака/характеристика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49440" y="2898648"/>
            <a:ext cx="18288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6"/>
          <p:cNvSpPr/>
          <p:nvPr/>
        </p:nvSpPr>
        <p:spPr>
          <a:xfrm>
            <a:off x="704088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Train / Test split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40880" y="31546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80% навчання, 20% перевірка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49440" y="3520440"/>
            <a:ext cx="1828800" cy="50292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19"/>
          <p:cNvSpPr/>
          <p:nvPr/>
        </p:nvSpPr>
        <p:spPr>
          <a:xfrm>
            <a:off x="7040880" y="35478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</a:rPr>
              <a:t>Рядків: ~1000+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</a:rPr>
              <a:t>Стовпців: ~4-100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Jupyter Notebook і JupyterLab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</a:rPr>
              <a:t>Jupyter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80467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Jupyter — інтерактивне середовище, де код, результати та пояснення (Markdown) живуть в одному документі (.ipynb)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Типи комірок: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2926080" cy="457200"/>
          </a:xfrm>
          <a:prstGeom prst="rect">
            <a:avLst/>
          </a:prstGeom>
          <a:solidFill>
            <a:srgbClr val="0D9488">
              <a:alpha val="18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Python код + результат виконання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86584"/>
            <a:ext cx="2926080" cy="457200"/>
          </a:xfrm>
          <a:prstGeom prst="rect">
            <a:avLst/>
          </a:prstGeom>
          <a:solidFill>
            <a:srgbClr val="2563EB">
              <a:alpha val="1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Markdown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Текст, формули, заголовки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2926080" cy="457200"/>
          </a:xfrm>
          <a:prstGeom prst="rect">
            <a:avLst/>
          </a:prstGeom>
          <a:solidFill>
            <a:srgbClr val="94A3B8">
              <a:alpha val="18000"/>
            </a:srgbClr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920" y="29352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Raw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163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Сирий текст без форматування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1481328"/>
            <a:ext cx="534924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474720" y="15361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5270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43400" y="18013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43400" y="2075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'data.csv'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23500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2743200"/>
            <a:ext cx="5349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474720" y="27889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[1]: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43400" y="27889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площа  кімнати  ціна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0     85        3   120000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1     55        2    72000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Встановлення: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292608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57200" y="39684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jupyter jupyterlab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315968"/>
            <a:ext cx="292608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5720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    # запуск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572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896112"/>
            <a:ext cx="786384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005840" y="93268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— найширша концепція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Системи, що імітують інтелект. ML та Deep Learning — всередині AI.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4572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1700784"/>
            <a:ext cx="786384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1005840" y="1737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Science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99339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Статистика + програмування + знання домену для аналізу даних.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4572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65760" y="25054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2505456"/>
            <a:ext cx="786384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 = навчання на прикладах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9806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Supervised (з мітками), Unsupervised (без міток), RL (нагорода).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4572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65760" y="33101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310128"/>
            <a:ext cx="786384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1005840" y="334670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Датасет, Features, Target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60273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Основна мова ML: таблиця прикладів, ознаки X, ціль 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4572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65760" y="4114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114800"/>
            <a:ext cx="786384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1005840" y="415137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407408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Наш головний інструмент: код + результати + пояснення в одному місці.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00"/>
                </a:solidFill>
              </a:rPr>
              <a:t>🏠  Домашнє завдання: встановіть Jupyter Lab </a:t>
            </a:r>
            <a:r>
              <a:rPr lang="en-US" sz="1000" b="1" dirty="0" err="1">
                <a:solidFill>
                  <a:srgbClr val="1A0A00"/>
                </a:solidFill>
              </a:rPr>
              <a:t>та</a:t>
            </a:r>
            <a:r>
              <a:rPr lang="en-US" sz="1000" b="1" dirty="0">
                <a:solidFill>
                  <a:srgbClr val="1A0A00"/>
                </a:solidFill>
              </a:rPr>
              <a:t> </a:t>
            </a:r>
            <a:r>
              <a:rPr lang="uk-UA" sz="1000" b="1" dirty="0">
                <a:solidFill>
                  <a:srgbClr val="1A0A00"/>
                </a:solidFill>
              </a:rPr>
              <a:t>створіть свій</a:t>
            </a:r>
            <a:r>
              <a:rPr lang="en-US" sz="1000" b="1" dirty="0">
                <a:solidFill>
                  <a:srgbClr val="1A0A00"/>
                </a:solidFill>
              </a:rPr>
              <a:t> перший notebook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1593</Words>
  <Application>Microsoft Macintosh PowerPoint</Application>
  <PresentationFormat>On-screen Show (16:9)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Вступ до AI, ML, Data Science та Jupyter</dc:title>
  <dc:subject>PptxGenJS Presentation</dc:subject>
  <dc:creator>PptxGenJS</dc:creator>
  <cp:lastModifiedBy>Штефан Дмитро</cp:lastModifiedBy>
  <cp:revision>8</cp:revision>
  <dcterms:created xsi:type="dcterms:W3CDTF">2026-05-31T14:09:26Z</dcterms:created>
  <dcterms:modified xsi:type="dcterms:W3CDTF">2026-05-31T14:47:25Z</dcterms:modified>
</cp:coreProperties>
</file>